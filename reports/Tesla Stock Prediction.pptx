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10"/>
  </p:normalViewPr>
  <p:slideViewPr>
    <p:cSldViewPr snapToGrid="0" snapToObjects="1">
      <p:cViewPr>
        <p:scale>
          <a:sx n="122" d="100"/>
          <a:sy n="122" d="100"/>
        </p:scale>
        <p:origin x="8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A (Same-Day)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2.31</c:v>
                </c:pt>
                <c:pt idx="1">
                  <c:v>3.23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ED-BA40-B7D3-8DD89AA72C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B (Next-Day)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7.4</c:v>
                </c:pt>
                <c:pt idx="1">
                  <c:v>11.06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ED-BA40-B7D3-8DD89AA72C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GH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GH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GH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91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rnest717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D4AA">
              <a:alpha val="15000"/>
            </a:srgbClr>
          </a:solidFill>
          <a:ln w="1905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95728"/>
            <a:ext cx="10972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·  DATA SCIENCE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Stock Price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171907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&amp; Forecasting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48640" y="2578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project using EDA, feature engineering, and time-series modeling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12240"/>
          </a:solidFill>
          <a:ln w="15240">
            <a:solidFill>
              <a:srgbClr val="00D4A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4015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Ernest Amanor Sawer  ·  Data Scientist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0" y="4389120"/>
            <a:ext cx="1463040" cy="512064"/>
          </a:xfrm>
          <a:prstGeom prst="roundRect">
            <a:avLst>
              <a:gd name="adj" fmla="val 14286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0" y="4407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TSLA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383280" y="50292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11880" y="5760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51960" y="594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83280" y="123444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11880" y="13075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51960" y="13258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Price &amp; Volume Trends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383280" y="196596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11880" y="20391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251960" y="2057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Returns &amp; Distributions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383280" y="269748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11880" y="2770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251960" y="2788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Correlation Heatmap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383280" y="342900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11880" y="3502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251960" y="35204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Phase A &amp; B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383280" y="416052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611880" y="42336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251960" y="4251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&amp; Roadmap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PROJECT OBJECTIVES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1148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166420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3736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7282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Tesla's historical stock performance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11480" y="224028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1343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3042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trends &amp; trading behavior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11480" y="281635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895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8803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ML models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11480" y="3392424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6557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4564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resolve information leakage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411480" y="3968496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41648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4400" y="4032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realistic next-day forecasting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4846320" y="114300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5074920" y="1325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5074920" y="1828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5074920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TSLA (NASDAQ)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074920" y="2359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5074920" y="2587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– Jan 2025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074920" y="28895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507492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1,258 trading days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074920" y="3419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5074920" y="3648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(yfinance)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074920" y="3950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5074920" y="4178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High, Low, Close, Volume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468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PRICE &amp; VOLUME TRENDS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251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89888"/>
            <a:ext cx="4032504" cy="31821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1005840"/>
            <a:ext cx="4251960" cy="329184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2336" y="103327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Closing Price Trend (2020–2025)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74320" y="4608576"/>
            <a:ext cx="4251960" cy="329184"/>
          </a:xfrm>
          <a:prstGeom prst="rect">
            <a:avLst/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6268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Strong upward trajectory with ~9× growth; significant 2022 drawdown and 2024 recovery.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617720" y="1005840"/>
            <a:ext cx="4251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1389888"/>
            <a:ext cx="4032504" cy="31821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1005840"/>
            <a:ext cx="4251960" cy="329184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45736" y="103327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Volume Trend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617720" y="4608576"/>
            <a:ext cx="4251960" cy="329184"/>
          </a:xfrm>
          <a:prstGeom prst="rect">
            <a:avLst/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09160" y="46268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Volume spikes align with major price moves and heightened investor attention.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468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MOVING AVERAGE &amp; DAILY RETURNS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251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89888"/>
            <a:ext cx="4032504" cy="31821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1005840"/>
            <a:ext cx="4251960" cy="329184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2336" y="103327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Moving Average Analysis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74320" y="4608576"/>
            <a:ext cx="4251960" cy="329184"/>
          </a:xfrm>
          <a:prstGeom prst="rect">
            <a:avLst/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6268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 smooths short-term noise and reveals underlying long-term direction clearly.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617720" y="1005840"/>
            <a:ext cx="4251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1389888"/>
            <a:ext cx="4032504" cy="31821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1005840"/>
            <a:ext cx="4251960" cy="329184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45736" y="103327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 Over Time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617720" y="4608576"/>
            <a:ext cx="4251960" cy="329184"/>
          </a:xfrm>
          <a:prstGeom prst="rect">
            <a:avLst/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09160" y="46268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Most daily returns cluster near zero; extreme outliers correspond to major news events.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468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DISTRIBUTIONS OF PRICE &amp; RETURNS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251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89888"/>
            <a:ext cx="4032504" cy="31821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1005840"/>
            <a:ext cx="4251960" cy="329184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2336" y="103327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Closing Prices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74320" y="4608576"/>
            <a:ext cx="4251960" cy="329184"/>
          </a:xfrm>
          <a:prstGeom prst="rect">
            <a:avLst/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6268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Multi-modal distribution shows TSLA traded across distinct price regimes over 5 years.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617720" y="1005840"/>
            <a:ext cx="4251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1389888"/>
            <a:ext cx="4032504" cy="31821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1005840"/>
            <a:ext cx="4251960" cy="329184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45736" y="103327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Daily Returns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617720" y="4608576"/>
            <a:ext cx="4251960" cy="329184"/>
          </a:xfrm>
          <a:prstGeom prst="rect">
            <a:avLst/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09160" y="46268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Approximately normal with slight fat tails — extreme gains/losses are infrequent but real.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468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FEATURE CORRELATION HEATMAP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05840"/>
            <a:ext cx="5486400" cy="329184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2336" y="10332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Matrix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89888"/>
            <a:ext cx="5266944" cy="323697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89320" y="1005840"/>
            <a:ext cx="2880360" cy="3931920"/>
          </a:xfrm>
          <a:prstGeom prst="roundRect">
            <a:avLst>
              <a:gd name="adj" fmla="val 3175"/>
            </a:avLst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17220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3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E4C9D7-ADE2-486D-9524-E7EC5B010617}"/>
              </a:ext>
            </a:extLst>
          </p:cNvPr>
          <p:cNvGrpSpPr/>
          <p:nvPr/>
        </p:nvGrpSpPr>
        <p:grpSpPr>
          <a:xfrm>
            <a:off x="6108192" y="1581912"/>
            <a:ext cx="2606040" cy="640080"/>
            <a:chOff x="6108192" y="1581912"/>
            <a:chExt cx="2606040" cy="640080"/>
          </a:xfrm>
        </p:grpSpPr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8192" y="1627632"/>
              <a:ext cx="292608" cy="292608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6473952" y="1581912"/>
              <a:ext cx="22402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Open, High, Low, Close are almost perfectly correlated (r ≈ 0.999)</a:t>
              </a:r>
              <a:endParaRPr lang="en-US" sz="10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30ED24-35B2-2798-D3FE-C28A680777C1}"/>
              </a:ext>
            </a:extLst>
          </p:cNvPr>
          <p:cNvGrpSpPr/>
          <p:nvPr/>
        </p:nvGrpSpPr>
        <p:grpSpPr>
          <a:xfrm>
            <a:off x="6108192" y="2386584"/>
            <a:ext cx="2606040" cy="640080"/>
            <a:chOff x="6108192" y="2386584"/>
            <a:chExt cx="2606040" cy="640080"/>
          </a:xfrm>
        </p:grpSpPr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8192" y="2432304"/>
              <a:ext cx="292608" cy="292608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6473952" y="2386584"/>
              <a:ext cx="22402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Volume has a moderate negative correlation with price features</a:t>
              </a:r>
              <a:endParaRPr lang="en-US" sz="105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CA63AA-B1E2-21CF-7E15-4B98920AB766}"/>
              </a:ext>
            </a:extLst>
          </p:cNvPr>
          <p:cNvGrpSpPr/>
          <p:nvPr/>
        </p:nvGrpSpPr>
        <p:grpSpPr>
          <a:xfrm>
            <a:off x="6108192" y="3191256"/>
            <a:ext cx="2606040" cy="640080"/>
            <a:chOff x="6108192" y="3191256"/>
            <a:chExt cx="2606040" cy="640080"/>
          </a:xfrm>
        </p:grpSpPr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08192" y="3236976"/>
              <a:ext cx="292608" cy="292608"/>
            </a:xfrm>
            <a:prstGeom prst="rect">
              <a:avLst/>
            </a:prstGeom>
          </p:spPr>
        </p:pic>
        <p:sp>
          <p:nvSpPr>
            <p:cNvPr id="16" name="Text 9"/>
            <p:cNvSpPr/>
            <p:nvPr/>
          </p:nvSpPr>
          <p:spPr>
            <a:xfrm>
              <a:off x="6473952" y="3191256"/>
              <a:ext cx="22402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Multicollinearity among price cols informed feature selection</a:t>
              </a:r>
              <a:endParaRPr lang="en-US" sz="105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CFBA10-5F0A-37A7-27F1-9AB0C4F9370F}"/>
              </a:ext>
            </a:extLst>
          </p:cNvPr>
          <p:cNvGrpSpPr/>
          <p:nvPr/>
        </p:nvGrpSpPr>
        <p:grpSpPr>
          <a:xfrm>
            <a:off x="6108192" y="3995928"/>
            <a:ext cx="2606040" cy="640080"/>
            <a:chOff x="6108192" y="3995928"/>
            <a:chExt cx="2606040" cy="640080"/>
          </a:xfrm>
        </p:grpSpPr>
        <p:pic>
          <p:nvPicPr>
            <p:cNvPr id="17" name="Image 5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08192" y="4041648"/>
              <a:ext cx="292608" cy="292608"/>
            </a:xfrm>
            <a:prstGeom prst="rect">
              <a:avLst/>
            </a:prstGeom>
          </p:spPr>
        </p:pic>
        <p:sp>
          <p:nvSpPr>
            <p:cNvPr id="18" name="Text 10"/>
            <p:cNvSpPr/>
            <p:nvPr/>
          </p:nvSpPr>
          <p:spPr>
            <a:xfrm>
              <a:off x="6473952" y="3995928"/>
              <a:ext cx="22402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Open or Lag features needed — not all price columns simultaneously</a:t>
              </a:r>
              <a:endParaRPr lang="en-US" sz="10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411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— SAME-DAY PREDICTION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— Close Price Prediction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112240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Used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 Price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788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Price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246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Low Price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3703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Volume Traded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4206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Closing Price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7373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112240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348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8348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98348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2990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983480" y="3694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36484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0.9986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4754880" y="41605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2D1A00"/>
          </a:solidFill>
          <a:ln w="15240">
            <a:solidFill>
              <a:srgbClr val="FFB347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4279392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03520" y="4279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Information leakage detected — not suitable for real trading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0312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— REALISTIC NEXT-DAY FORECASTING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4206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47088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 w="10160">
            <a:solidFill>
              <a:srgbClr val="D1E8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892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240280" y="1901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day's close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414016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 w="10160">
            <a:solidFill>
              <a:srgbClr val="D1E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459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Lag_2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240280" y="2468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ago close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980944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 w="10160">
            <a:solidFill>
              <a:srgbClr val="D1E8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026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MA_30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240280" y="3035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moving average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547872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 w="10160">
            <a:solidFill>
              <a:srgbClr val="D1E8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593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240280" y="3602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(Close – Open) / Open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11480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 w="10160">
            <a:solidFill>
              <a:srgbClr val="D1E8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4160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240280" y="4169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traded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" y="4617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Next-day Closing Price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46320" y="118872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074920" y="1353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074920" y="1874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74920" y="213055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7.40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5074920" y="2660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74920" y="2862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74920" y="31181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11.06</a:t>
            </a:r>
            <a:endParaRPr lang="en-US" sz="3800" dirty="0"/>
          </a:p>
        </p:txBody>
      </p:sp>
      <p:sp>
        <p:nvSpPr>
          <p:cNvPr id="30" name="Text 27"/>
          <p:cNvSpPr/>
          <p:nvPr/>
        </p:nvSpPr>
        <p:spPr>
          <a:xfrm>
            <a:off x="5074920" y="36484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Sq. Error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074920" y="3849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74920" y="410565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0.9762</a:t>
            </a:r>
            <a:endParaRPr lang="en-US" sz="3800" dirty="0"/>
          </a:p>
        </p:txBody>
      </p:sp>
      <p:sp>
        <p:nvSpPr>
          <p:cNvPr id="33" name="Text 30"/>
          <p:cNvSpPr/>
          <p:nvPr/>
        </p:nvSpPr>
        <p:spPr>
          <a:xfrm>
            <a:off x="5074920" y="46360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468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— ACTUAL vs PREDICTED CLOSING PRICES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8595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078992"/>
            <a:ext cx="8375904" cy="33284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6344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0B1A2E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4690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7.40  ·  avg error per day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429000" y="466344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0B1A2E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520440" y="4690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11.06  ·  penalizes outliers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309360" y="466344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0B1A2E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0" y="4690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97.62%  ·  variance explained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PHASE A vs PHASE B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1097280"/>
            <a:ext cx="2880360" cy="3749040"/>
          </a:xfrm>
          <a:prstGeom prst="roundRect">
            <a:avLst>
              <a:gd name="adj" fmla="val 3175"/>
            </a:avLst>
          </a:prstGeom>
          <a:solidFill>
            <a:srgbClr val="EEF4FB"/>
          </a:solidFill>
          <a:ln w="12700">
            <a:solidFill>
              <a:srgbClr val="D1E8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12648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Lessons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755648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9224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≠ better model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246888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92240" y="2450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creates false confidence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3182112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92240" y="31638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models use only prior data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3895344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92240" y="3877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0.976 is strong for stock forecasting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for this project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64592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112240"/>
          </a:solidFill>
          <a:ln w="10160">
            <a:solidFill>
              <a:srgbClr val="00D4A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" y="1828800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9848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9848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price direction (up/down) with logistic regression &amp; decision trees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69748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112240"/>
          </a:solidFill>
          <a:ln w="10160">
            <a:solidFill>
              <a:srgbClr val="00D4A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1208" y="2880360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69848" y="2770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CV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9848" y="30815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cross-validation to prevent future data leakage in evaluation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374904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112240"/>
          </a:solidFill>
          <a:ln w="10160">
            <a:solidFill>
              <a:srgbClr val="00D4A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1208" y="3931920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" y="3931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69848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69848" y="41330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 to capture non-linear patterns in market data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164592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112240"/>
          </a:solidFill>
          <a:ln w="10160">
            <a:solidFill>
              <a:srgbClr val="00D4A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56048" y="1828800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56048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04688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Networks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04688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long-range temporal dependencies in price series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46320" y="269748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112240"/>
          </a:solidFill>
          <a:ln w="10160">
            <a:solidFill>
              <a:srgbClr val="00D4AA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956048" y="2880360"/>
            <a:ext cx="438912" cy="43891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56048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04688" y="2770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04688" y="30815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 for real-time next-day stock price forecasting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74320"/>
            <a:ext cx="3474720" cy="3474720"/>
          </a:xfrm>
          <a:prstGeom prst="ellipse">
            <a:avLst/>
          </a:prstGeom>
          <a:solidFill>
            <a:srgbClr val="00D4AA">
              <a:alpha val="10000"/>
            </a:srgbClr>
          </a:solidFill>
          <a:ln w="1905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731520"/>
            <a:ext cx="2560320" cy="256032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Ernest Amanor Sawer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·  Data Scientist  ·  Quantitative Analytics Enthusiast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34747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112240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349300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github.com/Ernest717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·  Tesla Stock Price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609</Words>
  <Application>Microsoft Macintosh PowerPoint</Application>
  <PresentationFormat>On-screen Show (16:9)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Tesla Stock Price Prediction</dc:title>
  <dc:subject>PptxGenJS Presentation</dc:subject>
  <dc:creator>Ernest Amanor Sawer</dc:creator>
  <cp:lastModifiedBy>Ernest Amanor Sawer</cp:lastModifiedBy>
  <cp:revision>2</cp:revision>
  <dcterms:created xsi:type="dcterms:W3CDTF">2026-06-17T22:20:51Z</dcterms:created>
  <dcterms:modified xsi:type="dcterms:W3CDTF">2026-06-19T16:11:31Z</dcterms:modified>
</cp:coreProperties>
</file>